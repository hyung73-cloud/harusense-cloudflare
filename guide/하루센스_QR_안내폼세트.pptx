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23444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"/>
            <a:ext cx="75600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</a:pPr>
            <a:r>
              <a:rPr sz="2700" b="1" spc="1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하루센스</a:t>
            </a:r>
          </a:p>
          <a:p>
            <a:pPr algn="ctr">
              <a:lnSpc>
                <a:spcPct val="112000"/>
              </a:lnSpc>
            </a:pPr>
            <a:r>
              <a:rPr sz="1350" b="0" spc="200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실시간 가격 · 재고 정보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28480" cy="1325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6000"/>
              </a:lnSpc>
            </a:pPr>
            <a:r>
              <a:rPr sz="41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가격·재고, 다음에도</a:t>
            </a:r>
          </a:p>
          <a:p>
            <a:pPr algn="ctr">
              <a:lnSpc>
                <a:spcPct val="106000"/>
              </a:lnSpc>
            </a:pPr>
            <a:r>
              <a:rPr sz="41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실시간으로 확인하세요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0"/>
            <a:ext cx="682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휴대폰 카메라로 스캔하면 [기관명] 페이지로 바로 연결됩니다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814039" y="3291840"/>
            <a:ext cx="3931920" cy="3931920"/>
          </a:xfrm>
          <a:prstGeom prst="rect">
            <a:avLst/>
          </a:prstGeom>
          <a:solidFill>
            <a:srgbClr val="FAF7F0"/>
          </a:solidFill>
          <a:ln w="31750">
            <a:solidFill>
              <a:srgbClr val="B086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892" y="3960266"/>
            <a:ext cx="1258214" cy="12582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05480" y="5493715"/>
            <a:ext cx="3749039" cy="14154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QR 부착 위치</a:t>
            </a:r>
          </a:p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B5B5B5"/>
                </a:solidFill>
                <a:latin typeface="맑은 고딕"/>
                <a:ea typeface="맑은 고딕"/>
                <a:cs typeface="맑은 고딕"/>
              </a:rPr>
              <a:t>기관별 QR 이미지를 여기에 붙여 넣으세요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7406640"/>
            <a:ext cx="756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>
                <a:solidFill>
                  <a:srgbClr val="B0863C"/>
                </a:solidFill>
                <a:latin typeface="맑은 고딕"/>
                <a:ea typeface="맑은 고딕"/>
                <a:cs typeface="맑은 고딕"/>
              </a:rPr>
              <a:t>스캔 → 가격·재고 정보 실시간 확인</a:t>
            </a:r>
          </a:p>
        </p:txBody>
      </p:sp>
      <p:sp>
        <p:nvSpPr>
          <p:cNvPr id="10" name="Oval 9"/>
          <p:cNvSpPr/>
          <p:nvPr/>
        </p:nvSpPr>
        <p:spPr>
          <a:xfrm>
            <a:off x="799055" y="8001000"/>
            <a:ext cx="841248" cy="841248"/>
          </a:xfrm>
          <a:prstGeom prst="ellipse">
            <a:avLst/>
          </a:prstGeom>
          <a:solidFill>
            <a:srgbClr val="B0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real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92" y="8228136"/>
            <a:ext cx="386974" cy="3869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5259" y="8951976"/>
            <a:ext cx="21488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실시간 확인</a:t>
            </a:r>
          </a:p>
          <a:p>
            <a:pPr algn="ctr">
              <a:lnSpc>
                <a:spcPct val="108000"/>
              </a:lnSpc>
            </a:pPr>
            <a:r>
              <a:rPr sz="12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가격·재고 바로</a:t>
            </a:r>
          </a:p>
        </p:txBody>
      </p:sp>
      <p:sp>
        <p:nvSpPr>
          <p:cNvPr id="13" name="Oval 12"/>
          <p:cNvSpPr/>
          <p:nvPr/>
        </p:nvSpPr>
        <p:spPr>
          <a:xfrm>
            <a:off x="3359376" y="8001000"/>
            <a:ext cx="841248" cy="841248"/>
          </a:xfrm>
          <a:prstGeom prst="ellipse">
            <a:avLst/>
          </a:prstGeom>
          <a:solidFill>
            <a:srgbClr val="B0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ag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512" y="8228136"/>
            <a:ext cx="386974" cy="3869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05579" y="8951976"/>
            <a:ext cx="21488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다음에도</a:t>
            </a:r>
          </a:p>
          <a:p>
            <a:pPr algn="ctr">
              <a:lnSpc>
                <a:spcPct val="108000"/>
              </a:lnSpc>
            </a:pPr>
            <a:r>
              <a:rPr sz="12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저장 후 재확인</a:t>
            </a:r>
          </a:p>
        </p:txBody>
      </p:sp>
      <p:sp>
        <p:nvSpPr>
          <p:cNvPr id="16" name="Oval 15"/>
          <p:cNvSpPr/>
          <p:nvPr/>
        </p:nvSpPr>
        <p:spPr>
          <a:xfrm>
            <a:off x="5919696" y="8001000"/>
            <a:ext cx="841248" cy="841248"/>
          </a:xfrm>
          <a:prstGeom prst="ellipse">
            <a:avLst/>
          </a:prstGeom>
          <a:solidFill>
            <a:srgbClr val="B0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_sh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6832" y="8228136"/>
            <a:ext cx="386974" cy="3869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65900" y="8951976"/>
            <a:ext cx="21488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함께 보기</a:t>
            </a:r>
          </a:p>
          <a:p>
            <a:pPr algn="ctr">
              <a:lnSpc>
                <a:spcPct val="108000"/>
              </a:lnSpc>
            </a:pPr>
            <a:r>
              <a:rPr sz="12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지인에게 공유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9411839"/>
            <a:ext cx="7560000" cy="12801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9576431"/>
            <a:ext cx="7560000" cy="98755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8000"/>
              </a:lnSpc>
            </a:pPr>
            <a:r>
              <a:rPr sz="1450" b="0">
                <a:solidFill>
                  <a:srgbClr val="E6E0D2"/>
                </a:solidFill>
                <a:latin typeface="맑은 고딕"/>
                <a:ea typeface="맑은 고딕"/>
                <a:cs typeface="맑은 고딕"/>
              </a:rPr>
              <a:t>[기관명] 가격/재고 정보 확인해보고 방문하세요</a:t>
            </a:r>
          </a:p>
          <a:p>
            <a:pPr algn="ctr">
              <a:lnSpc>
                <a:spcPct val="118000"/>
              </a:lnSpc>
            </a:pPr>
            <a:r>
              <a:rPr sz="2500" b="1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harusense.com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23444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"/>
            <a:ext cx="75600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</a:pPr>
            <a:r>
              <a:rPr sz="2700" b="1" spc="1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하루센스</a:t>
            </a:r>
          </a:p>
          <a:p>
            <a:pPr algn="ctr">
              <a:lnSpc>
                <a:spcPct val="112000"/>
              </a:lnSpc>
            </a:pPr>
            <a:r>
              <a:rPr sz="1350" b="0" spc="200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실시간 가격 · 재고 정보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28480" cy="1325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6000"/>
              </a:lnSpc>
            </a:pPr>
            <a:r>
              <a:rPr sz="3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마운자로/위고비 가격</a:t>
            </a:r>
          </a:p>
          <a:p>
            <a:pPr algn="ctr">
              <a:lnSpc>
                <a:spcPct val="106000"/>
              </a:lnSpc>
            </a:pPr>
            <a:r>
              <a:rPr sz="3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다음에도 실시간 확인하세요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0"/>
            <a:ext cx="682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주변 병·의원 가격을 비교하고, 재고까지 확인 후 방문하세요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1814039" y="3291840"/>
            <a:ext cx="3931920" cy="3931920"/>
          </a:xfrm>
          <a:prstGeom prst="rect">
            <a:avLst/>
          </a:prstGeom>
          <a:solidFill>
            <a:srgbClr val="FAF7F0"/>
          </a:solidFill>
          <a:ln w="31750">
            <a:solidFill>
              <a:srgbClr val="B086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892" y="3960266"/>
            <a:ext cx="1258214" cy="12582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05480" y="5493715"/>
            <a:ext cx="3749039" cy="14154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QR 부착 위치</a:t>
            </a:r>
          </a:p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B5B5B5"/>
                </a:solidFill>
                <a:latin typeface="맑은 고딕"/>
                <a:ea typeface="맑은 고딕"/>
                <a:cs typeface="맑은 고딕"/>
              </a:rPr>
              <a:t>기관별 QR 이미지를 여기에 붙여 넣으세요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7406640"/>
            <a:ext cx="756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>
                <a:solidFill>
                  <a:srgbClr val="B0863C"/>
                </a:solidFill>
                <a:latin typeface="맑은 고딕"/>
                <a:ea typeface="맑은 고딕"/>
                <a:cs typeface="맑은 고딕"/>
              </a:rPr>
              <a:t>스캔 → 우리 [기관명] 가격·재고 바로 확인</a:t>
            </a:r>
          </a:p>
        </p:txBody>
      </p:sp>
      <p:sp>
        <p:nvSpPr>
          <p:cNvPr id="10" name="Oval 9"/>
          <p:cNvSpPr/>
          <p:nvPr/>
        </p:nvSpPr>
        <p:spPr>
          <a:xfrm>
            <a:off x="799055" y="8001000"/>
            <a:ext cx="841248" cy="841248"/>
          </a:xfrm>
          <a:prstGeom prst="ellipse">
            <a:avLst/>
          </a:prstGeom>
          <a:solidFill>
            <a:srgbClr val="B0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real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92" y="8228136"/>
            <a:ext cx="386974" cy="3869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5259" y="8951976"/>
            <a:ext cx="21488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실시간 가격</a:t>
            </a:r>
          </a:p>
          <a:p>
            <a:pPr algn="ctr">
              <a:lnSpc>
                <a:spcPct val="108000"/>
              </a:lnSpc>
            </a:pPr>
            <a:r>
              <a:rPr sz="12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바로 확인</a:t>
            </a:r>
          </a:p>
        </p:txBody>
      </p:sp>
      <p:sp>
        <p:nvSpPr>
          <p:cNvPr id="13" name="Oval 12"/>
          <p:cNvSpPr/>
          <p:nvPr/>
        </p:nvSpPr>
        <p:spPr>
          <a:xfrm>
            <a:off x="3359376" y="8001000"/>
            <a:ext cx="841248" cy="841248"/>
          </a:xfrm>
          <a:prstGeom prst="ellipse">
            <a:avLst/>
          </a:prstGeom>
          <a:solidFill>
            <a:srgbClr val="B0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ag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512" y="8228136"/>
            <a:ext cx="386974" cy="3869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05579" y="8951976"/>
            <a:ext cx="21488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가격 비교</a:t>
            </a:r>
          </a:p>
          <a:p>
            <a:pPr algn="ctr">
              <a:lnSpc>
                <a:spcPct val="108000"/>
              </a:lnSpc>
            </a:pPr>
            <a:r>
              <a:rPr sz="12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주변과 한눈에</a:t>
            </a:r>
          </a:p>
        </p:txBody>
      </p:sp>
      <p:sp>
        <p:nvSpPr>
          <p:cNvPr id="16" name="Oval 15"/>
          <p:cNvSpPr/>
          <p:nvPr/>
        </p:nvSpPr>
        <p:spPr>
          <a:xfrm>
            <a:off x="5919696" y="8001000"/>
            <a:ext cx="841248" cy="841248"/>
          </a:xfrm>
          <a:prstGeom prst="ellipse">
            <a:avLst/>
          </a:prstGeom>
          <a:solidFill>
            <a:srgbClr val="B0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_sh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6832" y="8228136"/>
            <a:ext cx="386974" cy="3869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65900" y="8951976"/>
            <a:ext cx="21488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공유하기</a:t>
            </a:r>
          </a:p>
          <a:p>
            <a:pPr algn="ctr">
              <a:lnSpc>
                <a:spcPct val="108000"/>
              </a:lnSpc>
            </a:pPr>
            <a:r>
              <a:rPr sz="12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지인에게 공유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9411839"/>
            <a:ext cx="7560000" cy="12801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9576431"/>
            <a:ext cx="7560000" cy="98755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8000"/>
              </a:lnSpc>
            </a:pPr>
            <a:r>
              <a:rPr sz="1450" b="0">
                <a:solidFill>
                  <a:srgbClr val="E6E0D2"/>
                </a:solidFill>
                <a:latin typeface="맑은 고딕"/>
                <a:ea typeface="맑은 고딕"/>
                <a:cs typeface="맑은 고딕"/>
              </a:rPr>
              <a:t>[기관명] 가격/재고 정보 확인해보고 방문하세요</a:t>
            </a:r>
          </a:p>
          <a:p>
            <a:pPr algn="ctr">
              <a:lnSpc>
                <a:spcPct val="118000"/>
              </a:lnSpc>
            </a:pPr>
            <a:r>
              <a:rPr sz="2500" b="1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harusense.com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23444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"/>
            <a:ext cx="75600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</a:pPr>
            <a:r>
              <a:rPr sz="2700" b="1" spc="1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하루센스</a:t>
            </a:r>
          </a:p>
          <a:p>
            <a:pPr algn="ctr">
              <a:lnSpc>
                <a:spcPct val="112000"/>
              </a:lnSpc>
            </a:pPr>
            <a:r>
              <a:rPr sz="1350" b="0" spc="200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실시간 가격 · 재고 정보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828480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6000"/>
              </a:lnSpc>
            </a:pPr>
            <a:r>
              <a:rPr sz="43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가격·재고를</a:t>
            </a:r>
          </a:p>
          <a:p>
            <a:pPr algn="ctr">
              <a:lnSpc>
                <a:spcPct val="106000"/>
              </a:lnSpc>
            </a:pPr>
            <a:r>
              <a:rPr sz="43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실시간으로 확인하세요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834640"/>
            <a:ext cx="682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휴대폰 카메라로 아래 QR을 비춰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8280" y="3383280"/>
            <a:ext cx="4663440" cy="4663440"/>
          </a:xfrm>
          <a:prstGeom prst="rect">
            <a:avLst/>
          </a:prstGeom>
          <a:solidFill>
            <a:srgbClr val="FAF7F0"/>
          </a:solidFill>
          <a:ln w="31750">
            <a:solidFill>
              <a:srgbClr val="B086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849" y="4176064"/>
            <a:ext cx="1492300" cy="1492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39720" y="5994806"/>
            <a:ext cx="4480559" cy="1678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QR 부착 위치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5B5B5"/>
                </a:solidFill>
                <a:latin typeface="맑은 고딕"/>
                <a:ea typeface="맑은 고딕"/>
                <a:cs typeface="맑은 고딕"/>
              </a:rPr>
              <a:t>기관별 QR 이미지를 여기에 붙여 넣으세요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8229600"/>
            <a:ext cx="75600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>
                <a:solidFill>
                  <a:srgbClr val="B0863C"/>
                </a:solidFill>
                <a:latin typeface="맑은 고딕"/>
                <a:ea typeface="맑은 고딕"/>
                <a:cs typeface="맑은 고딕"/>
              </a:rPr>
              <a:t>가격 확인  ·  재고 확인  ·  방문 전 체크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8823960"/>
            <a:ext cx="7560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0">
                <a:solidFill>
                  <a:srgbClr val="B5B5B5"/>
                </a:solidFill>
                <a:latin typeface="맑은 고딕"/>
                <a:ea typeface="맑은 고딕"/>
                <a:cs typeface="맑은 고딕"/>
              </a:rPr>
              <a:t>병·의원·약국 공용 · [기관명]만 바꿔 그대로 사용하세요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411839"/>
            <a:ext cx="7560000" cy="12801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9576431"/>
            <a:ext cx="7560000" cy="98755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8000"/>
              </a:lnSpc>
            </a:pPr>
            <a:r>
              <a:rPr sz="1450" b="0">
                <a:solidFill>
                  <a:srgbClr val="E6E0D2"/>
                </a:solidFill>
                <a:latin typeface="맑은 고딕"/>
                <a:ea typeface="맑은 고딕"/>
                <a:cs typeface="맑은 고딕"/>
              </a:rPr>
              <a:t>[기관명] 가격/재고 정보 확인해보고 방문하세요</a:t>
            </a:r>
          </a:p>
          <a:p>
            <a:pPr algn="ctr">
              <a:lnSpc>
                <a:spcPct val="118000"/>
              </a:lnSpc>
            </a:pPr>
            <a:r>
              <a:rPr sz="2500" b="1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harusense.com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23444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"/>
            <a:ext cx="75600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</a:pPr>
            <a:r>
              <a:rPr sz="2700" b="1" spc="1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하루센스</a:t>
            </a:r>
          </a:p>
          <a:p>
            <a:pPr algn="ctr">
              <a:lnSpc>
                <a:spcPct val="112000"/>
              </a:lnSpc>
            </a:pPr>
            <a:r>
              <a:rPr sz="1350" b="0" spc="200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실시간 가격 · 재고 정보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82848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4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스캔하면</a:t>
            </a:r>
          </a:p>
          <a:p>
            <a:pPr algn="ctr">
              <a:lnSpc>
                <a:spcPct val="105000"/>
              </a:lnSpc>
            </a:pPr>
            <a:r>
              <a:rPr sz="5400" b="1">
                <a:solidFill>
                  <a:srgbClr val="B0863C"/>
                </a:solidFill>
                <a:latin typeface="맑은 고딕"/>
                <a:ea typeface="맑은 고딕"/>
                <a:cs typeface="맑은 고딕"/>
              </a:rPr>
              <a:t>바로 확인하세요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429000"/>
            <a:ext cx="682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50" b="0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마운자로·위고비 가격·재고를 다음에도 실시간으로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1631159" y="3977639"/>
            <a:ext cx="4297680" cy="4297680"/>
          </a:xfrm>
          <a:prstGeom prst="rect">
            <a:avLst/>
          </a:prstGeom>
          <a:solidFill>
            <a:srgbClr val="FAF7F0"/>
          </a:solidFill>
          <a:ln w="31750">
            <a:solidFill>
              <a:srgbClr val="B086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371" y="4708245"/>
            <a:ext cx="1375257" cy="13752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22599" y="6384340"/>
            <a:ext cx="4114800" cy="154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6A6A6A"/>
                </a:solidFill>
                <a:latin typeface="맑은 고딕"/>
                <a:ea typeface="맑은 고딕"/>
                <a:cs typeface="맑은 고딕"/>
              </a:rPr>
              <a:t>QR 부착 위치</a:t>
            </a:r>
          </a:p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B5B5B5"/>
                </a:solidFill>
                <a:latin typeface="맑은 고딕"/>
                <a:ea typeface="맑은 고딕"/>
                <a:cs typeface="맑은 고딕"/>
              </a:rPr>
              <a:t>기관별 QR 이미지를 여기에 붙여 넣으세요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8503920"/>
            <a:ext cx="7560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지금 휴대폰 카메라로 스캔하세요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9411839"/>
            <a:ext cx="7560000" cy="12801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9576431"/>
            <a:ext cx="7560000" cy="98755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8000"/>
              </a:lnSpc>
            </a:pPr>
            <a:r>
              <a:rPr sz="1450" b="0">
                <a:solidFill>
                  <a:srgbClr val="E6E0D2"/>
                </a:solidFill>
                <a:latin typeface="맑은 고딕"/>
                <a:ea typeface="맑은 고딕"/>
                <a:cs typeface="맑은 고딕"/>
              </a:rPr>
              <a:t>[기관명] 가격/재고 정보 확인해보고 방문하세요</a:t>
            </a:r>
          </a:p>
          <a:p>
            <a:pPr algn="ctr">
              <a:lnSpc>
                <a:spcPct val="118000"/>
              </a:lnSpc>
            </a:pPr>
            <a:r>
              <a:rPr sz="2500" b="1">
                <a:solidFill>
                  <a:srgbClr val="C2933E"/>
                </a:solidFill>
                <a:latin typeface="맑은 고딕"/>
                <a:ea typeface="맑은 고딕"/>
                <a:cs typeface="맑은 고딕"/>
              </a:rPr>
              <a:t>harusense.com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